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48" y="1185448"/>
            <a:ext cx="7924774" cy="1325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 &amp; Customer Segmentation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614645" y="2815440"/>
            <a:ext cx="3914581" cy="36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4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Machine Learning Capstone Project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77506" y="3600023"/>
            <a:ext cx="3588696" cy="243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Vineet Kumar | 2015 E-Commerce Transaction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48" y="609548"/>
            <a:ext cx="8083269" cy="39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22" y="1231553"/>
            <a:ext cx="7620000" cy="211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151,112 purchase transactions with 12 features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fraud detection models to predict fraudulent transactions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Segment customers into distinct groups for targeted strategies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 (0 = Legitimate, 1 = Fraud)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Ratio: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9.4% fraudulent transactions (14,151 out of 151,112)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48" y="1383940"/>
            <a:ext cx="3886193" cy="192991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129" y="1383940"/>
            <a:ext cx="3886193" cy="192991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48" y="3466240"/>
            <a:ext cx="3886193" cy="192991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48129" y="3466240"/>
            <a:ext cx="3886193" cy="192991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548" y="609549"/>
            <a:ext cx="8083269" cy="39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Features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69189" y="1612520"/>
            <a:ext cx="3465932" cy="269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Features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9189" y="1995914"/>
            <a:ext cx="3397973" cy="97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ID</a:t>
            </a:r>
            <a:endParaRPr lang="en-US" sz="1200" dirty="0"/>
          </a:p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Signup Time</a:t>
            </a:r>
            <a:endParaRPr lang="en-US" sz="1200" dirty="0"/>
          </a:p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Purchase Time</a:t>
            </a:r>
            <a:endParaRPr lang="en-US" sz="1200" dirty="0"/>
          </a:p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Date of Birth (Age)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07769" y="1612520"/>
            <a:ext cx="3465932" cy="269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07769" y="1995914"/>
            <a:ext cx="3397973" cy="97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Purchase Value (1K-100K)</a:t>
            </a:r>
            <a:endParaRPr lang="en-US" sz="1200" dirty="0"/>
          </a:p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Device ID</a:t>
            </a:r>
            <a:endParaRPr lang="en-US" sz="1200" dirty="0"/>
          </a:p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IP Address</a:t>
            </a:r>
            <a:endParaRPr lang="en-US" sz="1200" dirty="0"/>
          </a:p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Category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9189" y="3694820"/>
            <a:ext cx="3465932" cy="269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Features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9189" y="4078214"/>
            <a:ext cx="3397973" cy="97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Days from Signup</a:t>
            </a:r>
            <a:endParaRPr lang="en-US" sz="1200" dirty="0"/>
          </a:p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Device Frequency</a:t>
            </a:r>
            <a:endParaRPr lang="en-US" sz="1200" dirty="0"/>
          </a:p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IP Frequency</a:t>
            </a:r>
            <a:endParaRPr lang="en-US" sz="1200" dirty="0"/>
          </a:p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Browser 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07769" y="3694820"/>
            <a:ext cx="3465932" cy="269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 Features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07769" y="4078214"/>
            <a:ext cx="3397973" cy="97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Sex (M/F)</a:t>
            </a:r>
            <a:endParaRPr lang="en-US" sz="1200" dirty="0"/>
          </a:p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Source (SEO/Ads)</a:t>
            </a:r>
            <a:endParaRPr lang="en-US" sz="1200" dirty="0"/>
          </a:p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Browser Type</a:t>
            </a:r>
            <a:endParaRPr lang="en-US" sz="1200" dirty="0"/>
          </a:p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Category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48" y="609548"/>
            <a:ext cx="8083269" cy="39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Preprocessing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22" y="1231553"/>
            <a:ext cx="7620000" cy="211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4,924 missing DOB values (removed), handled with median imputation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DateTime Conversion: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Converted signup_time, purchase_time, DOB to datetime format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Cardinality Reduction: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Top-N encoding for browser, source, and product category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StandardScaler for numeric features (age, purchase value, days)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OneHotEncoder for categorical variables (sex, browser, source)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48" y="1810689"/>
            <a:ext cx="3886193" cy="14423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129" y="1810689"/>
            <a:ext cx="3886193" cy="14423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48" y="3405415"/>
            <a:ext cx="3886193" cy="119855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48129" y="3405415"/>
            <a:ext cx="3886193" cy="119855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548" y="609549"/>
            <a:ext cx="8083269" cy="39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548" y="1231553"/>
            <a:ext cx="8083269" cy="27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new features to improve model performance: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9189" y="2039269"/>
            <a:ext cx="3465932" cy="269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Calculation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9189" y="2422664"/>
            <a:ext cx="3397973" cy="487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between purchase and DOB divided by 365.25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07769" y="2039269"/>
            <a:ext cx="3465932" cy="269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Signup-Purchase Gap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07769" y="2422664"/>
            <a:ext cx="3465932" cy="243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(hours) from account creation to purchase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9189" y="3633994"/>
            <a:ext cx="3465932" cy="269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Frequency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9189" y="4017390"/>
            <a:ext cx="3465932" cy="243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of transactions from same device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07769" y="3633994"/>
            <a:ext cx="3465932" cy="269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Frequency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07769" y="4017390"/>
            <a:ext cx="3465932" cy="243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of transactions from same IP address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48" y="609547"/>
            <a:ext cx="8083269" cy="39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22" y="1231553"/>
            <a:ext cx="7620000" cy="211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Train-Test Split: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80% training (120,889 samples), 20% testing (30,223 samples)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Split: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Maintains fraud ratio in both sets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Imbalanced Learning: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Used class_weight='balanced' to handle 9.4% fraud ratio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Trained: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Logistic Regression, Random Forest, Gradient Boosting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ROC-AUC Score (Area Under Receiver Operating Curve)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48" y="1383939"/>
            <a:ext cx="7924774" cy="5118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48" y="2009989"/>
            <a:ext cx="7924774" cy="5118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48" y="2636037"/>
            <a:ext cx="7924774" cy="5118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48" y="609549"/>
            <a:ext cx="8083269" cy="39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Results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92995" y="1557033"/>
            <a:ext cx="1485871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3155" y="1536327"/>
            <a:ext cx="1467555" cy="20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ROC-AUC: 0.8832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2995" y="2183081"/>
            <a:ext cx="1883203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Classifier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3155" y="2162375"/>
            <a:ext cx="1467555" cy="20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ROC-AUC: 0.8930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2995" y="2809131"/>
            <a:ext cx="1917194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(BEST)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3155" y="2788423"/>
            <a:ext cx="1467555" cy="20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ROC-AUC: 0.9088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9548" y="3490666"/>
            <a:ext cx="8083269" cy="27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 Gradient Boosting with highest ROC-AUC score of 0.9088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48" y="1383941"/>
            <a:ext cx="3886193" cy="150542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129" y="1383941"/>
            <a:ext cx="3886193" cy="150542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48" y="3194145"/>
            <a:ext cx="3886193" cy="150542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48129" y="3194145"/>
            <a:ext cx="3886193" cy="150542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548" y="609549"/>
            <a:ext cx="8083269" cy="39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- Detailed Metrics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69189" y="1612520"/>
            <a:ext cx="3465932" cy="155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9189" y="1844013"/>
            <a:ext cx="3465932" cy="35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98.54%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9189" y="2272219"/>
            <a:ext cx="3465932" cy="27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false positives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07769" y="1612520"/>
            <a:ext cx="3465932" cy="155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07769" y="1844013"/>
            <a:ext cx="3465932" cy="35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07769" y="2272219"/>
            <a:ext cx="3465932" cy="27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2 out of 3 frauds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9189" y="3422721"/>
            <a:ext cx="3465932" cy="155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9189" y="3654214"/>
            <a:ext cx="3465932" cy="35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79.74%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69189" y="4082421"/>
            <a:ext cx="3465932" cy="27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Precision-recall balance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07769" y="3422721"/>
            <a:ext cx="3465932" cy="155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07769" y="3654214"/>
            <a:ext cx="3465932" cy="35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90.88%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907769" y="4082421"/>
            <a:ext cx="3465932" cy="27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discrimination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48" y="609549"/>
            <a:ext cx="8083269" cy="39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Segmentation: KMeans Clustering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22" y="1231553"/>
            <a:ext cx="7620000" cy="211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KMeans clustering with k=3 (determined by elbow method)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Used: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Purchase value, Age, Days since signup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Median imputation, Standard scaling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distinct customer segments with different characteristics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Targeted marketing strategies per segment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48" y="1383943"/>
            <a:ext cx="3886193" cy="1686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129" y="1383943"/>
            <a:ext cx="3886193" cy="1686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48" y="3222454"/>
            <a:ext cx="3886193" cy="1686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48129" y="3222454"/>
            <a:ext cx="3886193" cy="1686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548" y="609549"/>
            <a:ext cx="8083269" cy="39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Segments Overview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69189" y="1612520"/>
            <a:ext cx="3465932" cy="269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9189" y="1995915"/>
            <a:ext cx="3397973" cy="73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Profile:</a:t>
            </a:r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High-value, Mature</a:t>
            </a:r>
            <a:endParaRPr lang="en-US" sz="1200" dirty="0"/>
          </a:p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Characteristics: Older, high spending, established accounts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07769" y="1612520"/>
            <a:ext cx="3465932" cy="269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07769" y="1995915"/>
            <a:ext cx="3397973" cy="73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Profile:</a:t>
            </a:r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New, Budget</a:t>
            </a:r>
            <a:endParaRPr lang="en-US" sz="1200" dirty="0"/>
          </a:p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Characteristics: Recent signups, lower spending, younger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9189" y="3451036"/>
            <a:ext cx="3465932" cy="269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9189" y="3834431"/>
            <a:ext cx="3397973" cy="73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Profile:</a:t>
            </a:r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Mid-value, Active</a:t>
            </a:r>
            <a:endParaRPr lang="en-US" sz="1200" dirty="0"/>
          </a:p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Characteristics: Moderate spend, various ages, mid-tenure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07769" y="3451036"/>
            <a:ext cx="3465932" cy="269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07769" y="3834431"/>
            <a:ext cx="3397973" cy="487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offers for Seg 0, Onboarding for Seg 1, Loyalty for Seg 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48" y="609544"/>
            <a:ext cx="8083269" cy="39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&amp;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22" y="1231553"/>
            <a:ext cx="7620000" cy="211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Gradient Boosting achieves 90.88% ROC-AUC with high precision (98.54%)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Pattern: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9.4% fraud rate; patterns linked to device/IP frequency and signup-purchase timing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Value: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Clear separation into 3 distinct customer segments based on spending behavior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Device frequency, IP frequency, and days-to-purchase are strong indicators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Enables personalized fraud prevention and customer retention strategies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48" y="609549"/>
            <a:ext cx="8083269" cy="39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&amp; Deployment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22" y="1231553"/>
            <a:ext cx="7620000" cy="211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Predictions: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predictions_and_clusters.csv with user_id, predicted_class, fraud_score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Score: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Probability of fraud (0-1) for each transaction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Labels: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segmentation_labels.csv with cluster assignments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Export: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Trained pipeline ready for real-time predictions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be integrated into e-commerce fraud detection system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48" y="609549"/>
            <a:ext cx="8083269" cy="39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for Improvement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22" y="1231553"/>
            <a:ext cx="7620000" cy="211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Tuning: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Adjust decision threshold for precision/recall tradeoff based on business needs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Optimization: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GridSearchCV or RandomizedSearchCV for better parameters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more advanced features (velocity checks, geographic anomalies)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Ensemble: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Combine multiple models for improved robustness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Retraining: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Update models monthly as fraud patterns evolve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5863" y="1262611"/>
            <a:ext cx="1871983" cy="39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61247" y="2189392"/>
            <a:ext cx="3621215" cy="91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Detection: 90.88% ROC-AUC</a:t>
            </a:r>
            <a:endParaRPr lang="en-US" sz="15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Customer Segmentation: 3 Distinct Groups</a:t>
            </a:r>
            <a:endParaRPr lang="en-US" sz="15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Production-Ready Pipeline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78728" y="3522697"/>
            <a:ext cx="786414" cy="243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2025-11-23T14:23:30Z</dcterms:created>
  <dcterms:modified xsi:type="dcterms:W3CDTF">2025-11-23T14:23:30Z</dcterms:modified>
</cp:coreProperties>
</file>